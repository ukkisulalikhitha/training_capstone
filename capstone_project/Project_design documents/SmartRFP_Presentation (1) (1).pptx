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120640" cy="5120640"/>
          </a:xfrm>
          <a:prstGeom prst="ellipse">
            <a:avLst/>
          </a:prstGeom>
          <a:solidFill>
            <a:srgbClr val="1529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566160"/>
            <a:ext cx="4114800" cy="4114800"/>
          </a:xfrm>
          <a:prstGeom prst="ellipse">
            <a:avLst/>
          </a:prstGeom>
          <a:solidFill>
            <a:srgbClr val="15294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887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957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SmartRFP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 Automated RFP-Response Generation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an RFP, retrieves enterprise knowledge, fetches pricing, drafts a structured proposal — with a human approval gate.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498348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15294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983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/ RAG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60904" y="4983480"/>
            <a:ext cx="1888236" cy="457200"/>
          </a:xfrm>
          <a:prstGeom prst="roundRect">
            <a:avLst>
              <a:gd name="adj" fmla="val 50000"/>
            </a:avLst>
          </a:prstGeom>
          <a:solidFill>
            <a:srgbClr val="15294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60904" y="4983480"/>
            <a:ext cx="188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77740" y="4983480"/>
            <a:ext cx="2656332" cy="457200"/>
          </a:xfrm>
          <a:prstGeom prst="roundRect">
            <a:avLst>
              <a:gd name="adj" fmla="val 50000"/>
            </a:avLst>
          </a:prstGeom>
          <a:solidFill>
            <a:srgbClr val="15294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7740" y="4983480"/>
            <a:ext cx="2656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· Groq · SQLite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Requirements · Architecture · Tech Stack   |  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RFP responses is slow and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48640" cy="548640"/>
          </a:xfrm>
          <a:prstGeom prst="ellipse">
            <a:avLst/>
          </a:prstGeom>
          <a:solidFill>
            <a:srgbClr val="FFF5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turnaround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requirements, hunting old proposals and chasing prices takes days per RFP.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947672"/>
            <a:ext cx="548640" cy="54864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084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1144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tone vary by author; good past answers get rewritten from scratch.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6176" y="1947672"/>
            <a:ext cx="548640" cy="548640"/>
          </a:xfrm>
          <a:prstGeom prst="ellipse">
            <a:avLst/>
          </a:prstGeom>
          <a:solidFill>
            <a:srgbClr val="E7F7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0848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6176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pricing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66176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copy last year's numbers; margins and SKU prices drift.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03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959352"/>
            <a:ext cx="548640" cy="548640"/>
          </a:xfrm>
          <a:prstGeom prst="ellipse">
            <a:avLst/>
          </a:prstGeom>
          <a:solidFill>
            <a:srgbClr val="F1EC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0965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572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knowledge reuse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winning proposals sit in folders nobody searches.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703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959352"/>
            <a:ext cx="548640" cy="54864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09651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572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81144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clauses and certifications get missed under deadline pressure.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3703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6176" y="3959352"/>
            <a:ext cx="548640" cy="5486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09651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66176" y="4572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coordination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66176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response pulls in many internal teams, creating bottlenecks.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SmartRFP automates the repetitive 80% so experts spend time on the high-value 20%.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system this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2745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67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/ RAG application that drafts proposals from an uploaded RFP.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03120"/>
            <a:ext cx="685800" cy="685800"/>
          </a:xfrm>
          <a:prstGeom prst="ellipse">
            <a:avLst/>
          </a:prstGeom>
          <a:solidFill>
            <a:srgbClr val="F1EC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2745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67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926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agents run in parallel after parsing, then a synthesis step.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343400"/>
            <a:ext cx="685800" cy="68580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45148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407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pattern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60120" y="5166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— nothing is finalised without reviewer approval.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343400"/>
            <a:ext cx="685800" cy="685800"/>
          </a:xfrm>
          <a:prstGeom prst="ellipse">
            <a:avLst/>
          </a:prstGeom>
          <a:solidFill>
            <a:srgbClr val="FFF5E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45148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407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537960" y="5166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Managers, Presales Engineers and Subject-Matter Experts.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non-goals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75688"/>
            <a:ext cx="548640" cy="548640"/>
          </a:xfrm>
          <a:prstGeom prst="ellipse">
            <a:avLst/>
          </a:prstGeom>
          <a:solidFill>
            <a:srgbClr val="E7F7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128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— what it will do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05840" y="29260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99923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80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an RFP into clear, answerable requirements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005840" y="34381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51129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3924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relevant past answers &amp; clauses via RAG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005840" y="395020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023360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9044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pricing/cost data at draft time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05840" y="44622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535424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416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structured, sectioned proposal with sources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1005840" y="49743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5047488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49286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compliance, missing info &amp; hallucination risks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1005840" y="5486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5559552"/>
            <a:ext cx="146304" cy="1463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08760" y="5440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human a clear approve / edit / regenerate gate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6217920" y="1783080"/>
            <a:ext cx="53035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6537960" y="2075688"/>
            <a:ext cx="548640" cy="54864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212848"/>
            <a:ext cx="274320" cy="2743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2376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 — out of scope (for now)</a:t>
            </a:r>
            <a:endParaRPr lang="en-US" sz="1700" dirty="0"/>
          </a:p>
        </p:txBody>
      </p:sp>
      <p:sp>
        <p:nvSpPr>
          <p:cNvPr id="30" name="Shape 20"/>
          <p:cNvSpPr/>
          <p:nvPr/>
        </p:nvSpPr>
        <p:spPr>
          <a:xfrm>
            <a:off x="6583680" y="29260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2999232"/>
            <a:ext cx="146304" cy="14630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86600" y="2880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Auto-submit responses to the client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583680" y="34381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6832" y="3511296"/>
            <a:ext cx="146304" cy="14630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086600" y="33924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presales, bid managers or SMEs</a:t>
            </a:r>
            <a:endParaRPr lang="en-US" sz="1200" dirty="0"/>
          </a:p>
        </p:txBody>
      </p:sp>
      <p:sp>
        <p:nvSpPr>
          <p:cNvPr id="36" name="Shape 24"/>
          <p:cNvSpPr/>
          <p:nvPr/>
        </p:nvSpPr>
        <p:spPr>
          <a:xfrm>
            <a:off x="6583680" y="395020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6832" y="4023360"/>
            <a:ext cx="146304" cy="14630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086600" y="39044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final margins or make commercial sign-off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6583680" y="44622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6832" y="4535424"/>
            <a:ext cx="146304" cy="14630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7086600" y="4416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e-signatures, contracts or legal execution</a:t>
            </a:r>
            <a:endParaRPr lang="en-US" sz="1200" dirty="0"/>
          </a:p>
        </p:txBody>
      </p:sp>
      <p:sp>
        <p:nvSpPr>
          <p:cNvPr id="42" name="Shape 28"/>
          <p:cNvSpPr/>
          <p:nvPr/>
        </p:nvSpPr>
        <p:spPr>
          <a:xfrm>
            <a:off x="6583680" y="49743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6832" y="5047488"/>
            <a:ext cx="146304" cy="146304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7086600" y="49286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 pricing when a source is unavailable</a:t>
            </a:r>
            <a:endParaRPr lang="en-US" sz="1200" dirty="0"/>
          </a:p>
        </p:txBody>
      </p:sp>
      <p:sp>
        <p:nvSpPr>
          <p:cNvPr id="45" name="Shape 30"/>
          <p:cNvSpPr/>
          <p:nvPr/>
        </p:nvSpPr>
        <p:spPr>
          <a:xfrm>
            <a:off x="6583680" y="5486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56832" y="5559552"/>
            <a:ext cx="146304" cy="146304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7086600" y="5440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project delivery after the bid is won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377440"/>
            <a:ext cx="1005840" cy="100584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6289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Manager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114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response. Uploads the RFP, reviews the full draft, manages the approval gate and exports the final document.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9202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82412" y="2377440"/>
            <a:ext cx="1005840" cy="1005840"/>
          </a:xfrm>
          <a:prstGeom prst="ellipse">
            <a:avLst/>
          </a:prstGeom>
          <a:solidFill>
            <a:srgbClr val="F1EC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6289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Engineer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45152" y="4114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technical answers and the solution design pulled from past proposals. Edits sections that need expert nuance.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9202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67444" y="2377440"/>
            <a:ext cx="1005840" cy="10058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26289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Subject-Matter Expert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30184" y="4114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Pinged for flagged sections only. Validates compliance clauses, pricing assumptions and risky claims.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DEFINITIONS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features (F2 &amp; F3 run in parallel)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530352" cy="530352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2598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RFP Parser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text and turns the document into a clean list of requirements &amp; questions.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993392"/>
            <a:ext cx="530352" cy="530352"/>
          </a:xfrm>
          <a:prstGeom prst="ellipse">
            <a:avLst/>
          </a:prstGeom>
          <a:solidFill>
            <a:srgbClr val="F1EC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2" y="212598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RAG Retrieval Agent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1144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the enterprise knowledge base and returns the most relevant content per requirement, with sources.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7373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6176" y="1993392"/>
            <a:ext cx="530352" cy="530352"/>
          </a:xfrm>
          <a:prstGeom prst="ellipse">
            <a:avLst/>
          </a:prstGeom>
          <a:solidFill>
            <a:srgbClr val="E7F7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212598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Live Pricing Agent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66176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current commercials from a rate card; flags stale lines instead of inventing numbers.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21608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977640"/>
            <a:ext cx="530352" cy="530352"/>
          </a:xfrm>
          <a:prstGeom prst="ellipse">
            <a:avLst/>
          </a:prstGeom>
          <a:solidFill>
            <a:srgbClr val="FFF5E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11022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014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Draft Generator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46360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both agents' output into a structured proposal in one consistent house style.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721608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977640"/>
            <a:ext cx="530352" cy="530352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4110228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4014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Review Workspace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1144" y="46360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sees flags &amp; confidence, then approves, edits inline or sends back to regenerate.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3721608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6176" y="3977640"/>
            <a:ext cx="530352" cy="530352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764" y="4110228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4014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Export &amp; Audit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66176" y="46360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to PDF/DOCX/XLSX/HTML/TXT and logs AI suggestions vs human edits.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screens in the Streamlit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02920" cy="50292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842" y="216484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51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RFP, guidelines, recent uploads.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039112"/>
            <a:ext cx="502920" cy="502920"/>
          </a:xfrm>
          <a:prstGeom prst="ellipse">
            <a:avLst/>
          </a:prstGeom>
          <a:solidFill>
            <a:srgbClr val="E7F7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762" y="216484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651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85032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status donut, recent RFPs, pipeline.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2039112"/>
            <a:ext cx="502920" cy="502920"/>
          </a:xfrm>
          <a:prstGeom prst="ellipse">
            <a:avLst/>
          </a:prstGeom>
          <a:solidFill>
            <a:srgbClr val="F1EC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682" y="216484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651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73952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effort, role breakdown &amp; allocation.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0684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62872" y="2039112"/>
            <a:ext cx="502920" cy="502920"/>
          </a:xfrm>
          <a:prstGeom prst="ellipse">
            <a:avLst/>
          </a:prstGeom>
          <a:solidFill>
            <a:srgbClr val="FFF5E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8602" y="216484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2651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62872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proposal, edit, approve / regenerate.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050792"/>
            <a:ext cx="502920" cy="5029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842" y="417652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" y="4663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96112" y="4983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DOCX / XLSX / HTML / TXT downloads.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2900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85032" y="4050792"/>
            <a:ext cx="502920" cy="50292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762" y="417652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85032" y="4663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685032" y="4983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Currency, model, theme, data management.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1792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73952" y="4050792"/>
            <a:ext cx="502920" cy="50292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682" y="4176522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73952" y="4663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Docs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73952" y="4983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guides, knowledge base, FAQ.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0684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0E1E3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9262872" y="4069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/ white design system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Calibri headings · Arial body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pills &amp; cards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5294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214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9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295144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— app.py · 7 pages · session state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95848" y="2752344"/>
            <a:ext cx="0" cy="146304"/>
          </a:xfrm>
          <a:prstGeom prst="line">
            <a:avLst/>
          </a:prstGeom>
          <a:noFill/>
          <a:ln w="19050">
            <a:solidFill>
              <a:srgbClr val="4D639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40080" y="2907792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5294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108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46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0540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737360" y="3419856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pipeline.py — parse → parallel agents → synthesize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95848" y="3877056"/>
            <a:ext cx="0" cy="146304"/>
          </a:xfrm>
          <a:prstGeom prst="line">
            <a:avLst/>
          </a:prstGeom>
          <a:noFill/>
          <a:ln w="19050">
            <a:solidFill>
              <a:srgbClr val="4D639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0080" y="4032504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5294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0120" y="423367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70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/ Intelligence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737360" y="4544568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 · RAG · pricing · draft generator · Groq LLM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095848" y="5001768"/>
            <a:ext cx="0" cy="146304"/>
          </a:xfrm>
          <a:prstGeom prst="line">
            <a:avLst/>
          </a:prstGeom>
          <a:noFill/>
          <a:ln w="19050">
            <a:solidFill>
              <a:srgbClr val="4D6391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5294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60120" y="5358384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4955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736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737360" y="5669280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database.py — SQLite (6 tables) + exports/ files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A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Cross-cutting: config.py (settings/secrets) · seed_data.py / demo_seed.py · utils/ (file parsing + export)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" y="2286000"/>
            <a:ext cx="914400" cy="91440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51460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96696" y="2286000"/>
            <a:ext cx="914400" cy="914400"/>
          </a:xfrm>
          <a:prstGeom prst="ellipse">
            <a:avLst/>
          </a:prstGeom>
          <a:ln w="254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310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6758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 from PDF/DOCX/TXT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07592" y="190195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1307592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295210" y="2743200"/>
            <a:ext cx="174153" cy="0"/>
          </a:xfrm>
          <a:prstGeom prst="line">
            <a:avLst/>
          </a:prstGeom>
          <a:noFill/>
          <a:ln w="25400">
            <a:solidFill>
              <a:srgbClr val="C7D2E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53477" y="2286000"/>
            <a:ext cx="914400" cy="91440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077" y="251460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53477" y="2286000"/>
            <a:ext cx="914400" cy="914400"/>
          </a:xfrm>
          <a:prstGeom prst="ellipse">
            <a:avLst/>
          </a:prstGeom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96861" y="3310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(F1)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359701" y="36758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extracted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164373" y="190195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3164373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151990" y="2743200"/>
            <a:ext cx="174153" cy="0"/>
          </a:xfrm>
          <a:prstGeom prst="line">
            <a:avLst/>
          </a:prstGeom>
          <a:noFill/>
          <a:ln w="25400">
            <a:solidFill>
              <a:srgbClr val="C7D2E5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710257" y="2286000"/>
            <a:ext cx="914400" cy="91440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57" y="2514600"/>
            <a:ext cx="457200" cy="457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710257" y="2286000"/>
            <a:ext cx="914400" cy="914400"/>
          </a:xfrm>
          <a:prstGeom prst="ellipse">
            <a:avLst/>
          </a:prstGeom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53641" y="3310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‖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216481" y="36758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Pricing in parallel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021153" y="190195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1"/>
          <p:cNvSpPr/>
          <p:nvPr/>
        </p:nvSpPr>
        <p:spPr>
          <a:xfrm>
            <a:off x="5021153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008771" y="2743200"/>
            <a:ext cx="174153" cy="0"/>
          </a:xfrm>
          <a:prstGeom prst="line">
            <a:avLst/>
          </a:prstGeom>
          <a:noFill/>
          <a:ln w="25400">
            <a:solidFill>
              <a:srgbClr val="C7D2E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567038" y="2286000"/>
            <a:ext cx="914400" cy="91440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638" y="2514600"/>
            <a:ext cx="457200" cy="4572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567038" y="2286000"/>
            <a:ext cx="914400" cy="914400"/>
          </a:xfrm>
          <a:prstGeom prst="ellipse">
            <a:avLst/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210422" y="3310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073262" y="36758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10-section proposal + flags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877934" y="1901952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28"/>
          <p:cNvSpPr/>
          <p:nvPr/>
        </p:nvSpPr>
        <p:spPr>
          <a:xfrm>
            <a:off x="687793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865552" y="2743200"/>
            <a:ext cx="174153" cy="0"/>
          </a:xfrm>
          <a:prstGeom prst="line">
            <a:avLst/>
          </a:prstGeom>
          <a:noFill/>
          <a:ln w="25400">
            <a:solidFill>
              <a:srgbClr val="C7D2E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8423819" y="2286000"/>
            <a:ext cx="914400" cy="91440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419" y="2514600"/>
            <a:ext cx="457200" cy="4572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423819" y="2286000"/>
            <a:ext cx="914400" cy="914400"/>
          </a:xfrm>
          <a:prstGeom prst="ellipse">
            <a:avLst/>
          </a:prstGeom>
          <a:ln w="25400">
            <a:solidFill>
              <a:srgbClr val="16A34A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067203" y="3310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930043" y="36758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edit / regenerate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8734715" y="1901952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35"/>
          <p:cNvSpPr/>
          <p:nvPr/>
        </p:nvSpPr>
        <p:spPr>
          <a:xfrm>
            <a:off x="8734715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9722332" y="2743200"/>
            <a:ext cx="174153" cy="0"/>
          </a:xfrm>
          <a:prstGeom prst="line">
            <a:avLst/>
          </a:prstGeom>
          <a:noFill/>
          <a:ln w="25400">
            <a:solidFill>
              <a:srgbClr val="C7D2E5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10280599" y="2286000"/>
            <a:ext cx="914400" cy="91440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2514600"/>
            <a:ext cx="457200" cy="45720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0280599" y="2286000"/>
            <a:ext cx="914400" cy="914400"/>
          </a:xfrm>
          <a:prstGeom prst="ellipse">
            <a:avLst/>
          </a:prstGeom>
          <a:ln w="25400">
            <a:solidFill>
              <a:srgbClr val="DC2626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9923983" y="3310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9786823" y="36758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PDF/DOCX/XLSX/HTML/TXT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10591495" y="19019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0" name="Text 42"/>
          <p:cNvSpPr/>
          <p:nvPr/>
        </p:nvSpPr>
        <p:spPr>
          <a:xfrm>
            <a:off x="10591495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2" name="Text 44"/>
          <p:cNvSpPr/>
          <p:nvPr/>
        </p:nvSpPr>
        <p:spPr>
          <a:xfrm>
            <a:off x="1005840" y="521208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by design: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agents run concurrently (ThreadPoolExecutor), so total time ≈ the slower agent — not the sum. Every step is written to the audit log.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knowledge sources, one grounded draft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31520" cy="73152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· RAG Retrieval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624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knowledge — grounded in your own documents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cosine similarity (scikit-learn)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000" y="3749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the SQLite knowledge base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3000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top-k matches above a threshold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3000" y="4846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carries its source title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178308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E7F7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· Live Pricing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452360" y="2624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commercials — fresh, not copied from last year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72084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Itemised pricing from a rate card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20840" y="3749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Keyed to the RFP's content &amp; keywords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720840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uncertain lines "stale — verify"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20840" y="4846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live web insight (Tavily)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on a laptop, no heavy infra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365760" cy="36576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4767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80560" y="173736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265615" y="17373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404872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523744"/>
            <a:ext cx="365760" cy="36576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1518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4048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80560" y="240487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ThreadPoolExecutor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265615" y="240487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072384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191256"/>
            <a:ext cx="365760" cy="36576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82696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723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480560" y="307238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(gpt-oss-20b) + demo fallback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265615" y="30723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739896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3858768"/>
            <a:ext cx="365760" cy="36576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50208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73989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480560" y="373989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cosine (scikit-learn)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265615" y="373989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rag_agent.py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4407408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1772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44074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/ web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480560" y="440740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 + optional Tavily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265615" y="440740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pricing_agent.py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" y="5074920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2960" y="5193792"/>
            <a:ext cx="365760" cy="36576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285232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71600" y="50749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4480560" y="50749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(sqlite3, no ORM)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265615" y="50749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640080" y="5742432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22960" y="5861304"/>
            <a:ext cx="365760" cy="365760"/>
          </a:xfrm>
          <a:prstGeom prst="ellipse">
            <a:avLst/>
          </a:prstGeom>
          <a:solidFill>
            <a:srgbClr val="EAF1FF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952744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371600" y="57424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4480560" y="574243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fpdf2 · python-docx · openpyxl · HTML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9265615" y="57424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exporter.py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stack  →  what we actually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0" cy="603504"/>
          </a:xfrm>
          <a:prstGeom prst="rect">
            <a:avLst/>
          </a:prstGeom>
          <a:solidFill>
            <a:srgbClr val="0E1E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830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/ ideal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49040" y="1783080"/>
            <a:ext cx="3017520" cy="603504"/>
          </a:xfrm>
          <a:prstGeom prst="rect">
            <a:avLst/>
          </a:prstGeom>
          <a:solidFill>
            <a:srgbClr val="0E1E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17830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1783080"/>
            <a:ext cx="4785055" cy="603504"/>
          </a:xfrm>
          <a:prstGeom prst="rect">
            <a:avLst/>
          </a:prstGeom>
          <a:solidFill>
            <a:srgbClr val="0E1E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783080"/>
            <a:ext cx="4510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32304"/>
            <a:ext cx="3108960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43230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orchestration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2432304"/>
            <a:ext cx="3017520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24323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ThreadPoolExecutor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2432304"/>
            <a:ext cx="4785055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432304"/>
            <a:ext cx="4510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parse→parallel→synthesize, simpler to run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3108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0815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3081528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13632" y="30815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+ demo fallback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3081528"/>
            <a:ext cx="478505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081528"/>
            <a:ext cx="4510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Faster/cheaper; runs even with no key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730752"/>
            <a:ext cx="3108960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73075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/ FAISS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49040" y="3730752"/>
            <a:ext cx="3017520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37307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cosine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0" y="3730752"/>
            <a:ext cx="4785055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3730752"/>
            <a:ext cx="4510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vector DB or embeddings endpoint needed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379976"/>
            <a:ext cx="3108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3799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749040" y="4379976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43799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766560" y="4379976"/>
            <a:ext cx="478505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4379976"/>
            <a:ext cx="4510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DB, zero install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3108960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02920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SerpAPI / Tavily (required)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749040" y="5029200"/>
            <a:ext cx="3017520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50292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 optional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766560" y="5029200"/>
            <a:ext cx="4785055" cy="603504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5029200"/>
            <a:ext cx="4510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fully offline; live web is a bonus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5678424"/>
            <a:ext cx="3108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67842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749040" y="5678424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3632" y="56784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direct calls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766560" y="5678424"/>
            <a:ext cx="478505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1152" y="5678424"/>
            <a:ext cx="4510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process, no separate API tier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0080" y="646480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function signatures are kept stable — each component can be upgraded to the heavier technology later without rewiring.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and the human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FFF5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 model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rfps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deal, client, raw text, status, counts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51560" y="3346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requirements per RFP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51560" y="3858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draft_sections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content, source, flag, confidence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51560" y="4370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item, qty, unit, total, fetched, stale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51560" y="48828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knowledge_base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docs Agent 1 searches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5156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/ what / detail / when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0" y="17830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20840" y="2057400"/>
            <a:ext cx="548640" cy="5486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945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2130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&amp; safety flags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81228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final without a human: approve, edit inline, comment, or send back to regenerate.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12280" y="36118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292" y="3707892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0" y="35935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—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SME should confirm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812280" y="417880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292" y="4274820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160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—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with no source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12280" y="474573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292" y="4841748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0" y="4727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info —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internal match found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812280" y="53126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292" y="5408676"/>
            <a:ext cx="192024" cy="19202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15200" y="5294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pricing —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before finalising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&amp; COST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derived per RFP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84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pricing lines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Agent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2084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(hrs)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487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+ reqs × 130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scope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084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487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÷ 130/wk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2084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35440" y="2487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+ staleness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3544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→ Medium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C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dynamic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407408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comes straight from the pricing the agent matched to this RFP; effort scales with the number of parsed requirements; weeks follow from effort; and confidence drops when pricing is stale or reviewer flags appear. Different RFP in → different numbers out.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5294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5294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knowledge sources, one grounded draft, one human gate.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40080" y="4069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= what we already know (private + accurate).  Agent 2 = what's current (pricing + web).  The human review + feedback loop keeps quality high.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SmartRFP · Streamlit · Groq · SQLite · TF-IDF RAG · Human-in-the-Loop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SmartRFP — PRD &amp; Architecture</dc:title>
  <dc:subject>PptxGenJS Presentation</dc:subject>
  <dc:creator>SmartRFP</dc:creator>
  <cp:lastModifiedBy>SmartRFP</cp:lastModifiedBy>
  <cp:revision>1</cp:revision>
  <dcterms:created xsi:type="dcterms:W3CDTF">2026-06-29T03:19:22Z</dcterms:created>
  <dcterms:modified xsi:type="dcterms:W3CDTF">2026-06-29T03:19:22Z</dcterms:modified>
</cp:coreProperties>
</file>